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1"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2" d="100"/>
          <a:sy n="72" d="100"/>
        </p:scale>
        <p:origin x="302"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72D147-2501-46E9-816A-0559A3E58693}" type="datetimeFigureOut">
              <a:rPr lang="en-CA" smtClean="0"/>
              <a:t>2024-04-15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CA297-1F7C-4258-8213-5A1469984791}" type="slidenum">
              <a:rPr lang="en-CA" smtClean="0"/>
              <a:t>‹#›</a:t>
            </a:fld>
            <a:endParaRPr lang="en-CA"/>
          </a:p>
        </p:txBody>
      </p:sp>
    </p:spTree>
    <p:extLst>
      <p:ext uri="{BB962C8B-B14F-4D97-AF65-F5344CB8AC3E}">
        <p14:creationId xmlns:p14="http://schemas.microsoft.com/office/powerpoint/2010/main" val="2817608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6F3CA297-1F7C-4258-8213-5A1469984791}" type="slidenum">
              <a:rPr lang="en-CA" smtClean="0"/>
              <a:t>3</a:t>
            </a:fld>
            <a:endParaRPr lang="en-CA"/>
          </a:p>
        </p:txBody>
      </p:sp>
    </p:spTree>
    <p:extLst>
      <p:ext uri="{BB962C8B-B14F-4D97-AF65-F5344CB8AC3E}">
        <p14:creationId xmlns:p14="http://schemas.microsoft.com/office/powerpoint/2010/main" val="1170160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3847-34C2-BFAA-0EC9-EE5DBCCEC1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327C5AD-D6EC-4BBE-C319-F1DA40445A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D4AC0BA-B375-169F-2543-F7B4B1E217AA}"/>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5" name="Footer Placeholder 4">
            <a:extLst>
              <a:ext uri="{FF2B5EF4-FFF2-40B4-BE49-F238E27FC236}">
                <a16:creationId xmlns:a16="http://schemas.microsoft.com/office/drawing/2014/main" id="{F86E8F8F-2BEB-1910-1AD1-4DBC28E0EAD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E1EAE5D-0CD0-F549-5924-E726FE738B29}"/>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1146782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6222-FA1E-9749-7685-4FA6B0A6D22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BCAF934-FBE2-C2C1-2A29-DA6597236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C84F14B-3B40-3B09-96AE-9C3CAA900BE2}"/>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5" name="Footer Placeholder 4">
            <a:extLst>
              <a:ext uri="{FF2B5EF4-FFF2-40B4-BE49-F238E27FC236}">
                <a16:creationId xmlns:a16="http://schemas.microsoft.com/office/drawing/2014/main" id="{FC8D6463-2D44-BE28-351D-74AC291966A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1B6AEB7-9929-1C9A-26EE-E080B715A86E}"/>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3669334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3C098-A0D2-238E-3ED6-E77690A7A5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E2D4CD8-713F-1686-1D61-08F7D4F26A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242E0E-E9B2-AFC9-E1CD-E3723CAA4C25}"/>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5" name="Footer Placeholder 4">
            <a:extLst>
              <a:ext uri="{FF2B5EF4-FFF2-40B4-BE49-F238E27FC236}">
                <a16:creationId xmlns:a16="http://schemas.microsoft.com/office/drawing/2014/main" id="{D8989245-3868-5420-32B7-11D3AB61E1A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A909FAF-82B4-A790-4E66-104F8D695FEC}"/>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1868858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3803-4BAC-255C-1950-ED5F82AAD2E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D80B4B0-2C4E-17F5-BFD5-27724A49A1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60A75EC-8251-408E-54AF-2054897B5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4DA624F-5CD9-DD7D-A890-889914F28236}"/>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6" name="Footer Placeholder 5">
            <a:extLst>
              <a:ext uri="{FF2B5EF4-FFF2-40B4-BE49-F238E27FC236}">
                <a16:creationId xmlns:a16="http://schemas.microsoft.com/office/drawing/2014/main" id="{3C285122-5FA6-222B-3579-97A1C8DEB01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1BFCD6D-9157-9C68-8B7C-3BC60E4E215C}"/>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2847328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7906-8EC7-75D0-A4B4-A4862FC9F0A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86EDD09-89D2-3DD7-F0A9-6BB114C7B9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4E1F97-17FC-8670-E7BF-3CA50C2A93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B982264-CBED-D9BD-5FFC-AC3E4A20A3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FC3BDE-AAC5-6808-9256-AA5D42A2D0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F48FB36-6281-37C4-83E6-16372F55235C}"/>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8" name="Footer Placeholder 7">
            <a:extLst>
              <a:ext uri="{FF2B5EF4-FFF2-40B4-BE49-F238E27FC236}">
                <a16:creationId xmlns:a16="http://schemas.microsoft.com/office/drawing/2014/main" id="{C5470895-DEE5-39ED-8D72-EAE66F5703F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019CEDE1-98ED-2D85-FDC0-98EB63BD4495}"/>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1275822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ABED-CAE1-8287-A725-1B64333AA64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A67A1A0-A7F8-59C7-A3AB-5D4E3F855555}"/>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4" name="Footer Placeholder 3">
            <a:extLst>
              <a:ext uri="{FF2B5EF4-FFF2-40B4-BE49-F238E27FC236}">
                <a16:creationId xmlns:a16="http://schemas.microsoft.com/office/drawing/2014/main" id="{E17B644C-96E0-663F-354A-9265CEBE0FB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79DA0F54-54E0-91B9-5DC2-EEB60C454E9D}"/>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122474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61DA37-95EA-F7C7-49FE-27249AE9C20E}"/>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3" name="Footer Placeholder 2">
            <a:extLst>
              <a:ext uri="{FF2B5EF4-FFF2-40B4-BE49-F238E27FC236}">
                <a16:creationId xmlns:a16="http://schemas.microsoft.com/office/drawing/2014/main" id="{C7DA1B34-A241-30B5-99E9-0877122CFC6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65A1264-2C8F-7A97-5639-C025AA614DB7}"/>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2334693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F53DD-5D25-ABF6-67E5-84D2CB3FE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9FC2D16-6BFD-EA02-D969-8FEADEC013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B56D62C-1F60-8037-6078-C45D97CBA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5FDCE0-769C-D64A-A293-517D6D878880}"/>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6" name="Footer Placeholder 5">
            <a:extLst>
              <a:ext uri="{FF2B5EF4-FFF2-40B4-BE49-F238E27FC236}">
                <a16:creationId xmlns:a16="http://schemas.microsoft.com/office/drawing/2014/main" id="{DDDA1204-BF02-A642-17C2-F43FD7D30BF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F75173F-D267-A5BA-8975-CA4B6F960D6F}"/>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216096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F8C13-013B-E7EA-A2C1-A61A003FC2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C181214-8054-2408-4BE6-EB20E7CBE8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C9F8BF2-CEF5-5B84-FE66-05319E999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DD71CD-4123-B90B-5C47-13DEB0064213}"/>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6" name="Footer Placeholder 5">
            <a:extLst>
              <a:ext uri="{FF2B5EF4-FFF2-40B4-BE49-F238E27FC236}">
                <a16:creationId xmlns:a16="http://schemas.microsoft.com/office/drawing/2014/main" id="{5A894D2E-AAF2-ACBF-C97F-6A1959FEE8B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5ABC5FB-3E34-1469-B403-3064FE528FC3}"/>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247634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F394C-97CA-33E6-573F-3771BE53C7A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1948E64-75A0-FE76-33FF-A7B08D4713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8D59F89-738A-3CB4-B9EC-6FC70F8E3B4C}"/>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5" name="Footer Placeholder 4">
            <a:extLst>
              <a:ext uri="{FF2B5EF4-FFF2-40B4-BE49-F238E27FC236}">
                <a16:creationId xmlns:a16="http://schemas.microsoft.com/office/drawing/2014/main" id="{30EA1DB1-06E5-6F47-C2D8-E030B99F1FD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3F2118-5F80-4DBC-EE10-30BD58F7EE97}"/>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3908489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D96AD2-E951-AC91-0156-6F5C1AA3F5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4DC0BC8-D732-CB00-93C4-DD39076DCC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94E2F2-9F24-AEA2-70F6-CDF792DEB90A}"/>
              </a:ext>
            </a:extLst>
          </p:cNvPr>
          <p:cNvSpPr>
            <a:spLocks noGrp="1"/>
          </p:cNvSpPr>
          <p:nvPr>
            <p:ph type="dt" sz="half" idx="10"/>
          </p:nvPr>
        </p:nvSpPr>
        <p:spPr/>
        <p:txBody>
          <a:bodyPr/>
          <a:lstStyle/>
          <a:p>
            <a:fld id="{9A024925-D677-42E4-98C8-198BBAA8062F}" type="datetimeFigureOut">
              <a:rPr lang="en-CA" smtClean="0"/>
              <a:t>2024-04-15</a:t>
            </a:fld>
            <a:endParaRPr lang="en-CA"/>
          </a:p>
        </p:txBody>
      </p:sp>
      <p:sp>
        <p:nvSpPr>
          <p:cNvPr id="5" name="Footer Placeholder 4">
            <a:extLst>
              <a:ext uri="{FF2B5EF4-FFF2-40B4-BE49-F238E27FC236}">
                <a16:creationId xmlns:a16="http://schemas.microsoft.com/office/drawing/2014/main" id="{E3AE2BC9-C311-83AC-5399-879E26F19EE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ABCE3D3-18D9-58C9-E98A-DD1DEEDB8DBF}"/>
              </a:ext>
            </a:extLst>
          </p:cNvPr>
          <p:cNvSpPr>
            <a:spLocks noGrp="1"/>
          </p:cNvSpPr>
          <p:nvPr>
            <p:ph type="sldNum" sz="quarter" idx="12"/>
          </p:nvPr>
        </p:nvSpPr>
        <p:spPr/>
        <p:txBody>
          <a:bodyPr/>
          <a:lstStyle/>
          <a:p>
            <a:fld id="{66F206AF-01A9-44CD-A737-D344BA81F4C2}" type="slidenum">
              <a:rPr lang="en-CA" smtClean="0"/>
              <a:t>‹#›</a:t>
            </a:fld>
            <a:endParaRPr lang="en-CA"/>
          </a:p>
        </p:txBody>
      </p:sp>
    </p:spTree>
    <p:extLst>
      <p:ext uri="{BB962C8B-B14F-4D97-AF65-F5344CB8AC3E}">
        <p14:creationId xmlns:p14="http://schemas.microsoft.com/office/powerpoint/2010/main" val="2253068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D21F79-71EA-94F1-7C5A-68C58BD3B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6A902DC-A889-0CC1-D25E-A49239DB6C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A229DF5-B0D1-445A-572C-377048DB85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024925-D677-42E4-98C8-198BBAA8062F}" type="datetimeFigureOut">
              <a:rPr lang="en-CA" smtClean="0"/>
              <a:t>2024-04-15</a:t>
            </a:fld>
            <a:endParaRPr lang="en-CA"/>
          </a:p>
        </p:txBody>
      </p:sp>
      <p:sp>
        <p:nvSpPr>
          <p:cNvPr id="5" name="Footer Placeholder 4">
            <a:extLst>
              <a:ext uri="{FF2B5EF4-FFF2-40B4-BE49-F238E27FC236}">
                <a16:creationId xmlns:a16="http://schemas.microsoft.com/office/drawing/2014/main" id="{F99C6FEB-FA4B-582B-64C3-066E577475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A345B915-F9FE-00FF-62BE-26939977B7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F206AF-01A9-44CD-A737-D344BA81F4C2}" type="slidenum">
              <a:rPr lang="en-CA" smtClean="0"/>
              <a:t>‹#›</a:t>
            </a:fld>
            <a:endParaRPr lang="en-CA"/>
          </a:p>
        </p:txBody>
      </p:sp>
    </p:spTree>
    <p:extLst>
      <p:ext uri="{BB962C8B-B14F-4D97-AF65-F5344CB8AC3E}">
        <p14:creationId xmlns:p14="http://schemas.microsoft.com/office/powerpoint/2010/main" val="3396531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pnyaga.com/"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hyperlink" Target="https://pixabay.com/fr/illustrations/merci-note-merci-noter-message-1428147/"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6" name="Picture 15" descr="A stethoscope and a heart&#10;&#10;Description automatically generated">
            <a:extLst>
              <a:ext uri="{FF2B5EF4-FFF2-40B4-BE49-F238E27FC236}">
                <a16:creationId xmlns:a16="http://schemas.microsoft.com/office/drawing/2014/main" id="{E732F6A9-83E8-7147-C6E8-22F69893DD31}"/>
              </a:ext>
            </a:extLst>
          </p:cNvPr>
          <p:cNvPicPr>
            <a:picLocks noChangeAspect="1"/>
          </p:cNvPicPr>
          <p:nvPr/>
        </p:nvPicPr>
        <p:blipFill rotWithShape="1">
          <a:blip r:embed="rId2">
            <a:extLst>
              <a:ext uri="{28A0092B-C50C-407E-A947-70E740481C1C}">
                <a14:useLocalDpi xmlns:a14="http://schemas.microsoft.com/office/drawing/2010/main" val="0"/>
              </a:ext>
            </a:extLst>
          </a:blip>
          <a:srcRect b="19"/>
          <a:stretch/>
        </p:blipFill>
        <p:spPr>
          <a:xfrm>
            <a:off x="20" y="1282"/>
            <a:ext cx="12191980" cy="6856718"/>
          </a:xfrm>
          <a:prstGeom prst="rect">
            <a:avLst/>
          </a:prstGeom>
        </p:spPr>
      </p:pic>
      <p:sp>
        <p:nvSpPr>
          <p:cNvPr id="18" name="TextBox 17">
            <a:extLst>
              <a:ext uri="{FF2B5EF4-FFF2-40B4-BE49-F238E27FC236}">
                <a16:creationId xmlns:a16="http://schemas.microsoft.com/office/drawing/2014/main" id="{0306D65D-1D51-E934-9BA6-5591109DD42E}"/>
              </a:ext>
            </a:extLst>
          </p:cNvPr>
          <p:cNvSpPr txBox="1"/>
          <p:nvPr/>
        </p:nvSpPr>
        <p:spPr>
          <a:xfrm>
            <a:off x="6441440" y="2072640"/>
            <a:ext cx="5750560" cy="1077218"/>
          </a:xfrm>
          <a:prstGeom prst="rect">
            <a:avLst/>
          </a:prstGeom>
          <a:noFill/>
        </p:spPr>
        <p:txBody>
          <a:bodyPr wrap="square" rtlCol="0">
            <a:spAutoFit/>
          </a:bodyPr>
          <a:lstStyle/>
          <a:p>
            <a:r>
              <a:rPr lang="en-CA" sz="3200" b="1" dirty="0"/>
              <a:t>DETECTING PNEUMONIA IN CHEST XRAYS USING CNN</a:t>
            </a:r>
          </a:p>
        </p:txBody>
      </p:sp>
      <p:sp>
        <p:nvSpPr>
          <p:cNvPr id="2" name="TextBox 1">
            <a:extLst>
              <a:ext uri="{FF2B5EF4-FFF2-40B4-BE49-F238E27FC236}">
                <a16:creationId xmlns:a16="http://schemas.microsoft.com/office/drawing/2014/main" id="{9327CD15-E2D4-0E3F-2703-B522DB0C3A79}"/>
              </a:ext>
            </a:extLst>
          </p:cNvPr>
          <p:cNvSpPr txBox="1"/>
          <p:nvPr/>
        </p:nvSpPr>
        <p:spPr>
          <a:xfrm>
            <a:off x="6439916" y="6371737"/>
            <a:ext cx="5750560" cy="307777"/>
          </a:xfrm>
          <a:prstGeom prst="rect">
            <a:avLst/>
          </a:prstGeom>
          <a:noFill/>
        </p:spPr>
        <p:txBody>
          <a:bodyPr wrap="square" rtlCol="0">
            <a:spAutoFit/>
          </a:bodyPr>
          <a:lstStyle/>
          <a:p>
            <a:r>
              <a:rPr lang="en-CA" sz="1400" b="1" dirty="0"/>
              <a:t>GitHub: </a:t>
            </a:r>
            <a:r>
              <a:rPr lang="en-CA" sz="1400" b="1" dirty="0" err="1"/>
              <a:t>Sangavisambathkumar</a:t>
            </a:r>
            <a:r>
              <a:rPr lang="en-CA" sz="1400" b="1" dirty="0"/>
              <a:t>/Pneumonia-Detection (github.com)</a:t>
            </a:r>
          </a:p>
        </p:txBody>
      </p:sp>
    </p:spTree>
    <p:extLst>
      <p:ext uri="{BB962C8B-B14F-4D97-AF65-F5344CB8AC3E}">
        <p14:creationId xmlns:p14="http://schemas.microsoft.com/office/powerpoint/2010/main" val="2988105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2945F3-9F31-D316-F871-3477C05203A2}"/>
              </a:ext>
            </a:extLst>
          </p:cNvPr>
          <p:cNvSpPr txBox="1"/>
          <p:nvPr/>
        </p:nvSpPr>
        <p:spPr>
          <a:xfrm>
            <a:off x="1049901" y="643466"/>
            <a:ext cx="1476686" cy="5571067"/>
          </a:xfrm>
          <a:prstGeom prst="rect">
            <a:avLst/>
          </a:prstGeom>
          <a:noFill/>
        </p:spPr>
        <p:txBody>
          <a:bodyPr wrap="square" rtlCol="0">
            <a:spAutoFit/>
          </a:bodyPr>
          <a:lstStyle/>
          <a:p>
            <a:pPr defTabSz="813816"/>
            <a:r>
              <a:rPr lang="en-CA" sz="35600" kern="1200" dirty="0">
                <a:solidFill>
                  <a:srgbClr val="FFC000"/>
                </a:solidFill>
                <a:latin typeface="Algerian" panose="04020705040A02060702" pitchFamily="82" charset="0"/>
                <a:ea typeface="+mn-ea"/>
                <a:cs typeface="+mn-cs"/>
              </a:rPr>
              <a:t>I</a:t>
            </a:r>
            <a:endParaRPr lang="en-CA" sz="40000" dirty="0">
              <a:solidFill>
                <a:srgbClr val="FFC000"/>
              </a:solidFill>
              <a:latin typeface="Algerian" panose="04020705040A02060702" pitchFamily="82" charset="0"/>
            </a:endParaRPr>
          </a:p>
        </p:txBody>
      </p:sp>
      <p:sp>
        <p:nvSpPr>
          <p:cNvPr id="3" name="TextBox 2">
            <a:extLst>
              <a:ext uri="{FF2B5EF4-FFF2-40B4-BE49-F238E27FC236}">
                <a16:creationId xmlns:a16="http://schemas.microsoft.com/office/drawing/2014/main" id="{77D3644F-6F9A-200D-E391-E05CF720CA53}"/>
              </a:ext>
            </a:extLst>
          </p:cNvPr>
          <p:cNvSpPr txBox="1"/>
          <p:nvPr/>
        </p:nvSpPr>
        <p:spPr>
          <a:xfrm>
            <a:off x="2445052" y="4596559"/>
            <a:ext cx="2364509" cy="475836"/>
          </a:xfrm>
          <a:prstGeom prst="rect">
            <a:avLst/>
          </a:prstGeom>
          <a:noFill/>
        </p:spPr>
        <p:txBody>
          <a:bodyPr wrap="square" rtlCol="0">
            <a:spAutoFit/>
          </a:bodyPr>
          <a:lstStyle/>
          <a:p>
            <a:pPr defTabSz="813816"/>
            <a:r>
              <a:rPr lang="en-CA" sz="2492" kern="1200" dirty="0">
                <a:solidFill>
                  <a:srgbClr val="FFC000"/>
                </a:solidFill>
                <a:latin typeface="Algerian" panose="04020705040A02060702" pitchFamily="82" charset="0"/>
                <a:ea typeface="+mn-ea"/>
                <a:cs typeface="+mn-cs"/>
              </a:rPr>
              <a:t>NTRODUCTION</a:t>
            </a:r>
            <a:endParaRPr lang="en-CA" sz="2800" dirty="0">
              <a:solidFill>
                <a:srgbClr val="FFC000"/>
              </a:solidFill>
              <a:latin typeface="Algerian" panose="04020705040A02060702" pitchFamily="82" charset="0"/>
            </a:endParaRPr>
          </a:p>
        </p:txBody>
      </p:sp>
      <p:sp>
        <p:nvSpPr>
          <p:cNvPr id="4" name="TextBox 3">
            <a:extLst>
              <a:ext uri="{FF2B5EF4-FFF2-40B4-BE49-F238E27FC236}">
                <a16:creationId xmlns:a16="http://schemas.microsoft.com/office/drawing/2014/main" id="{1A222B17-3241-7868-9212-C4ECDFFE4D0C}"/>
              </a:ext>
            </a:extLst>
          </p:cNvPr>
          <p:cNvSpPr txBox="1"/>
          <p:nvPr/>
        </p:nvSpPr>
        <p:spPr>
          <a:xfrm>
            <a:off x="4546838" y="879011"/>
            <a:ext cx="6595260" cy="5269187"/>
          </a:xfrm>
          <a:prstGeom prst="rect">
            <a:avLst/>
          </a:prstGeom>
          <a:noFill/>
        </p:spPr>
        <p:txBody>
          <a:bodyPr wrap="square" rtlCol="0">
            <a:spAutoFit/>
          </a:bodyPr>
          <a:lstStyle/>
          <a:p>
            <a:pPr marL="254318" indent="-254318" algn="just" defTabSz="813816">
              <a:buFont typeface="Arial" panose="020B0604020202020204" pitchFamily="34" charset="0"/>
              <a:buChar char="•"/>
            </a:pPr>
            <a:r>
              <a:rPr lang="en-US" sz="1602" kern="1200" dirty="0">
                <a:solidFill>
                  <a:srgbClr val="0D0D0D"/>
                </a:solidFill>
                <a:highlight>
                  <a:srgbClr val="FFFFFF"/>
                </a:highlight>
                <a:latin typeface="+mn-lt"/>
                <a:ea typeface="+mn-ea"/>
                <a:cs typeface="+mn-cs"/>
              </a:rPr>
              <a:t>Pneumonia is a common and potentially serious lung infection that can affect people of all ages. It occurs when the air sacs in the lungs become inflamed and filled with fluid or pus, leading to symptoms such as cough, fever, difficulty breathing, and chest pain. Pneumonia can be caused by various infectious agents, including bacteria, viruses, and fungi, with bacterial and viral pneumonia being the most prevalent types.</a:t>
            </a:r>
          </a:p>
          <a:p>
            <a:pPr algn="just" defTabSz="813816"/>
            <a:endParaRPr lang="en-US" sz="1602" kern="1200" dirty="0">
              <a:solidFill>
                <a:srgbClr val="0D0D0D"/>
              </a:solidFill>
              <a:highlight>
                <a:srgbClr val="FFFFFF"/>
              </a:highlight>
              <a:latin typeface="+mn-lt"/>
              <a:ea typeface="+mn-ea"/>
              <a:cs typeface="+mn-cs"/>
            </a:endParaRPr>
          </a:p>
          <a:p>
            <a:pPr marL="254318" indent="-254318" algn="just" defTabSz="813816">
              <a:buFont typeface="Arial" panose="020B0604020202020204" pitchFamily="34" charset="0"/>
              <a:buChar char="•"/>
            </a:pPr>
            <a:r>
              <a:rPr lang="en-US" sz="1602" kern="1200" dirty="0">
                <a:solidFill>
                  <a:srgbClr val="0D0D0D"/>
                </a:solidFill>
                <a:highlight>
                  <a:srgbClr val="FFFFFF"/>
                </a:highlight>
                <a:latin typeface="+mn-lt"/>
                <a:ea typeface="+mn-ea"/>
                <a:cs typeface="+mn-cs"/>
              </a:rPr>
              <a:t>Early detection of pneumonia is paramount for effective treatment and improved patient outcomes. Here's why:</a:t>
            </a:r>
          </a:p>
          <a:p>
            <a:pPr algn="just" defTabSz="813816"/>
            <a:endParaRPr lang="en-US" sz="1602" kern="1200" dirty="0">
              <a:solidFill>
                <a:srgbClr val="0D0D0D"/>
              </a:solidFill>
              <a:highlight>
                <a:srgbClr val="FFFFFF"/>
              </a:highlight>
              <a:latin typeface="+mn-lt"/>
              <a:ea typeface="+mn-ea"/>
              <a:cs typeface="+mn-cs"/>
            </a:endParaRPr>
          </a:p>
          <a:p>
            <a:pPr marL="661226" lvl="1" indent="-254318" algn="just" defTabSz="813816">
              <a:buFont typeface="Wingdings" panose="05000000000000000000" pitchFamily="2" charset="2"/>
              <a:buChar char="ü"/>
            </a:pPr>
            <a:r>
              <a:rPr lang="en-CA" sz="1602" kern="1200" dirty="0">
                <a:solidFill>
                  <a:srgbClr val="0D0D0D"/>
                </a:solidFill>
                <a:highlight>
                  <a:srgbClr val="FFFFFF"/>
                </a:highlight>
                <a:latin typeface="+mn-lt"/>
                <a:ea typeface="+mn-ea"/>
                <a:cs typeface="+mn-cs"/>
              </a:rPr>
              <a:t>Prevention of Complications</a:t>
            </a:r>
          </a:p>
          <a:p>
            <a:pPr marL="661226" lvl="1" indent="-254318" algn="just" defTabSz="813816">
              <a:buFont typeface="Wingdings" panose="05000000000000000000" pitchFamily="2" charset="2"/>
              <a:buChar char="ü"/>
            </a:pPr>
            <a:r>
              <a:rPr lang="en-CA" sz="1602" kern="1200" dirty="0">
                <a:solidFill>
                  <a:srgbClr val="0D0D0D"/>
                </a:solidFill>
                <a:highlight>
                  <a:srgbClr val="FFFFFF"/>
                </a:highlight>
                <a:latin typeface="+mn-lt"/>
                <a:ea typeface="+mn-ea"/>
                <a:cs typeface="+mn-cs"/>
              </a:rPr>
              <a:t>Optimized Antibiotic Therapy</a:t>
            </a:r>
          </a:p>
          <a:p>
            <a:pPr marL="661226" lvl="1" indent="-254318" algn="just" defTabSz="813816">
              <a:buFont typeface="Wingdings" panose="05000000000000000000" pitchFamily="2" charset="2"/>
              <a:buChar char="ü"/>
            </a:pPr>
            <a:r>
              <a:rPr lang="en-CA" sz="1602" kern="1200" dirty="0">
                <a:solidFill>
                  <a:srgbClr val="0D0D0D"/>
                </a:solidFill>
                <a:highlight>
                  <a:srgbClr val="FFFFFF"/>
                </a:highlight>
                <a:latin typeface="+mn-lt"/>
                <a:ea typeface="+mn-ea"/>
                <a:cs typeface="+mn-cs"/>
              </a:rPr>
              <a:t>Reduced Hospitalization Rates</a:t>
            </a:r>
          </a:p>
          <a:p>
            <a:pPr marL="661226" lvl="1" indent="-254318" algn="just" defTabSz="813816">
              <a:buFont typeface="Wingdings" panose="05000000000000000000" pitchFamily="2" charset="2"/>
              <a:buChar char="ü"/>
            </a:pPr>
            <a:r>
              <a:rPr lang="en-CA" sz="1602" kern="1200" dirty="0">
                <a:solidFill>
                  <a:srgbClr val="0D0D0D"/>
                </a:solidFill>
                <a:highlight>
                  <a:srgbClr val="FFFFFF"/>
                </a:highlight>
                <a:latin typeface="+mn-lt"/>
                <a:ea typeface="+mn-ea"/>
                <a:cs typeface="+mn-cs"/>
              </a:rPr>
              <a:t>Improved Patient Outcomes</a:t>
            </a:r>
          </a:p>
          <a:p>
            <a:pPr marL="661226" lvl="1" indent="-254318" algn="just" defTabSz="813816">
              <a:buFont typeface="Wingdings" panose="05000000000000000000" pitchFamily="2" charset="2"/>
              <a:buChar char="ü"/>
            </a:pPr>
            <a:r>
              <a:rPr lang="en-CA" sz="1602" kern="1200" dirty="0">
                <a:solidFill>
                  <a:srgbClr val="0D0D0D"/>
                </a:solidFill>
                <a:highlight>
                  <a:srgbClr val="FFFFFF"/>
                </a:highlight>
                <a:latin typeface="+mn-lt"/>
                <a:ea typeface="+mn-ea"/>
                <a:cs typeface="+mn-cs"/>
              </a:rPr>
              <a:t>Prevention of Spread</a:t>
            </a:r>
            <a:endParaRPr lang="en-US" sz="1602" kern="1200" dirty="0">
              <a:solidFill>
                <a:srgbClr val="0D0D0D"/>
              </a:solidFill>
              <a:highlight>
                <a:srgbClr val="FFFFFF"/>
              </a:highlight>
              <a:latin typeface="+mn-lt"/>
              <a:ea typeface="+mn-ea"/>
              <a:cs typeface="+mn-cs"/>
            </a:endParaRPr>
          </a:p>
          <a:p>
            <a:pPr marL="254318" indent="-254318" algn="just" defTabSz="813816">
              <a:buFont typeface="Arial" panose="020B0604020202020204" pitchFamily="34" charset="0"/>
              <a:buChar char="•"/>
            </a:pPr>
            <a:endParaRPr lang="en-US" sz="1602" kern="1200" dirty="0">
              <a:solidFill>
                <a:srgbClr val="0D0D0D"/>
              </a:solidFill>
              <a:highlight>
                <a:srgbClr val="FFFFFF"/>
              </a:highlight>
              <a:latin typeface="+mn-lt"/>
              <a:ea typeface="+mn-ea"/>
              <a:cs typeface="+mn-cs"/>
            </a:endParaRPr>
          </a:p>
          <a:p>
            <a:pPr marL="254318" indent="-254318" algn="just" defTabSz="813816">
              <a:buFont typeface="Arial" panose="020B0604020202020204" pitchFamily="34" charset="0"/>
              <a:buChar char="•"/>
            </a:pPr>
            <a:endParaRPr lang="en-US" sz="1602" kern="1200" dirty="0">
              <a:solidFill>
                <a:srgbClr val="0D0D0D"/>
              </a:solidFill>
              <a:highlight>
                <a:srgbClr val="FFFFFF"/>
              </a:highlight>
              <a:latin typeface="+mn-lt"/>
              <a:ea typeface="+mn-ea"/>
              <a:cs typeface="+mn-cs"/>
            </a:endParaRPr>
          </a:p>
          <a:p>
            <a:pPr algn="just" defTabSz="813816"/>
            <a:endParaRPr lang="en-US" sz="1602" kern="1200" dirty="0">
              <a:solidFill>
                <a:srgbClr val="0D0D0D"/>
              </a:solidFill>
              <a:highlight>
                <a:srgbClr val="FFFFFF"/>
              </a:highlight>
              <a:latin typeface="+mn-lt"/>
              <a:ea typeface="+mn-ea"/>
              <a:cs typeface="+mn-cs"/>
            </a:endParaRPr>
          </a:p>
          <a:p>
            <a:pPr algn="just" defTabSz="813816"/>
            <a:br>
              <a:rPr lang="en-US" sz="1602" kern="1200" dirty="0">
                <a:solidFill>
                  <a:schemeClr val="tx1"/>
                </a:solidFill>
                <a:latin typeface="+mn-lt"/>
                <a:ea typeface="+mn-ea"/>
                <a:cs typeface="+mn-cs"/>
              </a:rPr>
            </a:br>
            <a:endParaRPr lang="en-US" dirty="0">
              <a:solidFill>
                <a:srgbClr val="0D0D0D"/>
              </a:solidFill>
              <a:highlight>
                <a:srgbClr val="FFFFFF"/>
              </a:highlight>
            </a:endParaRPr>
          </a:p>
        </p:txBody>
      </p:sp>
    </p:spTree>
    <p:extLst>
      <p:ext uri="{BB962C8B-B14F-4D97-AF65-F5344CB8AC3E}">
        <p14:creationId xmlns:p14="http://schemas.microsoft.com/office/powerpoint/2010/main" val="2019591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ue letter k&#10;&#10;Description automatically generated">
            <a:extLst>
              <a:ext uri="{FF2B5EF4-FFF2-40B4-BE49-F238E27FC236}">
                <a16:creationId xmlns:a16="http://schemas.microsoft.com/office/drawing/2014/main" id="{97435133-85D2-B9AB-1153-ABB53E0E38B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43467" y="748378"/>
            <a:ext cx="1948739" cy="1948739"/>
          </a:xfrm>
          <a:prstGeom prst="rect">
            <a:avLst/>
          </a:prstGeom>
        </p:spPr>
      </p:pic>
      <p:sp>
        <p:nvSpPr>
          <p:cNvPr id="5" name="TextBox 4">
            <a:extLst>
              <a:ext uri="{FF2B5EF4-FFF2-40B4-BE49-F238E27FC236}">
                <a16:creationId xmlns:a16="http://schemas.microsoft.com/office/drawing/2014/main" id="{CD95E3F2-1E4A-298E-1751-EE916A134536}"/>
              </a:ext>
            </a:extLst>
          </p:cNvPr>
          <p:cNvSpPr txBox="1"/>
          <p:nvPr/>
        </p:nvSpPr>
        <p:spPr>
          <a:xfrm>
            <a:off x="3615786" y="1623788"/>
            <a:ext cx="3917163" cy="1073329"/>
          </a:xfrm>
          <a:prstGeom prst="rect">
            <a:avLst/>
          </a:prstGeom>
          <a:solidFill>
            <a:schemeClr val="bg1"/>
          </a:solidFill>
        </p:spPr>
        <p:txBody>
          <a:bodyPr wrap="square" rtlCol="0">
            <a:spAutoFit/>
          </a:bodyPr>
          <a:lstStyle/>
          <a:p>
            <a:pPr defTabSz="877824"/>
            <a:r>
              <a:rPr lang="en-CA" sz="6336" kern="120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dataset</a:t>
            </a:r>
            <a:endParaRPr lang="en-CA">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BC7C0C90-7A8B-DE0A-0624-3F8EE5A611BB}"/>
              </a:ext>
            </a:extLst>
          </p:cNvPr>
          <p:cNvSpPr txBox="1"/>
          <p:nvPr/>
        </p:nvSpPr>
        <p:spPr>
          <a:xfrm>
            <a:off x="2090258" y="1865729"/>
            <a:ext cx="1525528" cy="685738"/>
          </a:xfrm>
          <a:prstGeom prst="rect">
            <a:avLst/>
          </a:prstGeom>
          <a:noFill/>
        </p:spPr>
        <p:txBody>
          <a:bodyPr wrap="square" rtlCol="0">
            <a:spAutoFit/>
          </a:bodyPr>
          <a:lstStyle/>
          <a:p>
            <a:pPr defTabSz="877824"/>
            <a:r>
              <a:rPr lang="en-CA" sz="3840" b="1" kern="1200">
                <a:solidFill>
                  <a:srgbClr val="21BEFF"/>
                </a:solidFill>
                <a:latin typeface="ADLaM Display" panose="02010000000000000000" pitchFamily="2" charset="0"/>
                <a:ea typeface="ADLaM Display" panose="02010000000000000000" pitchFamily="2" charset="0"/>
                <a:cs typeface="ADLaM Display" panose="02010000000000000000" pitchFamily="2" charset="0"/>
              </a:rPr>
              <a:t>aggle</a:t>
            </a:r>
            <a:endParaRPr lang="en-CA" sz="4000" b="1">
              <a:solidFill>
                <a:srgbClr val="21BEFF"/>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EB5BF188-28F6-5B45-FBB5-8A9824F9018B}"/>
              </a:ext>
            </a:extLst>
          </p:cNvPr>
          <p:cNvSpPr txBox="1"/>
          <p:nvPr/>
        </p:nvSpPr>
        <p:spPr>
          <a:xfrm>
            <a:off x="1135573" y="3336855"/>
            <a:ext cx="10412960" cy="2554545"/>
          </a:xfrm>
          <a:prstGeom prst="rect">
            <a:avLst/>
          </a:prstGeom>
          <a:noFill/>
        </p:spPr>
        <p:txBody>
          <a:bodyPr wrap="square" rtlCol="0">
            <a:spAutoFit/>
          </a:bodyPr>
          <a:lstStyle/>
          <a:p>
            <a:pPr marL="274320" indent="-274320" algn="just" defTabSz="877824">
              <a:buFont typeface="Arial" panose="020B0604020202020204" pitchFamily="34" charset="0"/>
              <a:buChar char="•"/>
            </a:pPr>
            <a:r>
              <a:rPr lang="en-CA" sz="1600" kern="1200" dirty="0">
                <a:solidFill>
                  <a:schemeClr val="tx1"/>
                </a:solidFill>
                <a:latin typeface="+mn-lt"/>
                <a:ea typeface="+mn-ea"/>
                <a:cs typeface="+mn-cs"/>
              </a:rPr>
              <a:t>  </a:t>
            </a:r>
            <a:r>
              <a:rPr lang="en-US" sz="1600" kern="1200" dirty="0">
                <a:solidFill>
                  <a:schemeClr val="tx1"/>
                </a:solidFill>
                <a:latin typeface="+mn-lt"/>
                <a:ea typeface="+mn-ea"/>
                <a:cs typeface="+mn-cs"/>
              </a:rPr>
              <a:t>This dataset provides a valuable resource for researchers and medical professionals to develop and         evaluate deep learning models for pneumonia detection using chest X-ray images.</a:t>
            </a:r>
          </a:p>
          <a:p>
            <a:pPr marL="274320" indent="-274320" algn="just" defTabSz="877824">
              <a:buFont typeface="Arial" panose="020B0604020202020204" pitchFamily="34" charset="0"/>
              <a:buChar char="•"/>
            </a:pPr>
            <a:endParaRPr lang="en-US" sz="1600" kern="1200" dirty="0">
              <a:solidFill>
                <a:schemeClr val="tx1"/>
              </a:solidFill>
              <a:latin typeface="+mn-lt"/>
              <a:ea typeface="+mn-ea"/>
              <a:cs typeface="+mn-cs"/>
            </a:endParaRPr>
          </a:p>
          <a:p>
            <a:pPr marL="274320" indent="-274320" algn="just" defTabSz="877824">
              <a:buFont typeface="Arial" panose="020B0604020202020204" pitchFamily="34" charset="0"/>
              <a:buChar char="•"/>
            </a:pPr>
            <a:r>
              <a:rPr lang="en-US" sz="1600" kern="1200" dirty="0">
                <a:solidFill>
                  <a:schemeClr val="tx1"/>
                </a:solidFill>
                <a:latin typeface="+mn-lt"/>
                <a:ea typeface="+mn-ea"/>
                <a:cs typeface="+mn-cs"/>
              </a:rPr>
              <a:t>Total Images: 5,875</a:t>
            </a:r>
          </a:p>
          <a:p>
            <a:pPr marL="274320" indent="-274320" algn="just" defTabSz="877824">
              <a:buFont typeface="Arial" panose="020B0604020202020204" pitchFamily="34" charset="0"/>
              <a:buChar char="•"/>
            </a:pPr>
            <a:r>
              <a:rPr lang="en-US" sz="1600" kern="1200" dirty="0">
                <a:solidFill>
                  <a:schemeClr val="tx1"/>
                </a:solidFill>
                <a:latin typeface="+mn-lt"/>
                <a:ea typeface="+mn-ea"/>
                <a:cs typeface="+mn-cs"/>
              </a:rPr>
              <a:t>Categories:</a:t>
            </a:r>
          </a:p>
          <a:p>
            <a:pPr marL="713232" lvl="1" indent="-274320" algn="just" defTabSz="877824">
              <a:buFont typeface="Wingdings" panose="05000000000000000000" pitchFamily="2" charset="2"/>
              <a:buChar char="ü"/>
            </a:pPr>
            <a:r>
              <a:rPr lang="en-US" sz="1600" kern="1200" dirty="0">
                <a:solidFill>
                  <a:schemeClr val="tx1"/>
                </a:solidFill>
                <a:latin typeface="+mn-lt"/>
                <a:ea typeface="+mn-ea"/>
                <a:cs typeface="+mn-cs"/>
              </a:rPr>
              <a:t>Normal Images: 1,585</a:t>
            </a:r>
          </a:p>
          <a:p>
            <a:pPr marL="713232" lvl="1" indent="-274320" algn="just" defTabSz="877824">
              <a:buFont typeface="Wingdings" panose="05000000000000000000" pitchFamily="2" charset="2"/>
              <a:buChar char="ü"/>
            </a:pPr>
            <a:r>
              <a:rPr lang="en-US" sz="1600" kern="1200" dirty="0">
                <a:solidFill>
                  <a:schemeClr val="tx1"/>
                </a:solidFill>
                <a:latin typeface="+mn-lt"/>
                <a:ea typeface="+mn-ea"/>
                <a:cs typeface="+mn-cs"/>
              </a:rPr>
              <a:t>Virus-Infected Pneumonia Images: 1,493</a:t>
            </a:r>
          </a:p>
          <a:p>
            <a:pPr marL="713232" lvl="1" indent="-274320" algn="just" defTabSz="877824">
              <a:buFont typeface="Wingdings" panose="05000000000000000000" pitchFamily="2" charset="2"/>
              <a:buChar char="ü"/>
            </a:pPr>
            <a:r>
              <a:rPr lang="en-US" sz="1600" kern="1200" dirty="0">
                <a:solidFill>
                  <a:schemeClr val="tx1"/>
                </a:solidFill>
                <a:latin typeface="+mn-lt"/>
                <a:ea typeface="+mn-ea"/>
                <a:cs typeface="+mn-cs"/>
              </a:rPr>
              <a:t>Bacteria-Infected Pneumonia Images: 2,780</a:t>
            </a:r>
          </a:p>
          <a:p>
            <a:pPr marL="438912" lvl="1" algn="just" defTabSz="877824"/>
            <a:endParaRPr lang="en-CA" sz="1600" kern="1200" dirty="0">
              <a:solidFill>
                <a:schemeClr val="tx1"/>
              </a:solidFill>
              <a:latin typeface="+mn-lt"/>
              <a:ea typeface="+mn-ea"/>
              <a:cs typeface="+mn-cs"/>
            </a:endParaRPr>
          </a:p>
          <a:p>
            <a:pPr marL="274320" indent="-274320" algn="just" defTabSz="877824">
              <a:buFont typeface="Arial" panose="020B0604020202020204" pitchFamily="34" charset="0"/>
              <a:buChar char="•"/>
            </a:pPr>
            <a:r>
              <a:rPr lang="en-US" sz="1600" kern="1200" dirty="0">
                <a:solidFill>
                  <a:schemeClr val="tx1"/>
                </a:solidFill>
                <a:latin typeface="+mn-lt"/>
                <a:ea typeface="+mn-ea"/>
                <a:cs typeface="+mn-cs"/>
              </a:rPr>
              <a:t>The dataset is split into train and test subsets, with further subdivisions for validation during training.</a:t>
            </a:r>
            <a:endParaRPr lang="en-CA" sz="1600" dirty="0"/>
          </a:p>
        </p:txBody>
      </p:sp>
    </p:spTree>
    <p:extLst>
      <p:ext uri="{BB962C8B-B14F-4D97-AF65-F5344CB8AC3E}">
        <p14:creationId xmlns:p14="http://schemas.microsoft.com/office/powerpoint/2010/main" val="126856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9E8E29-BA39-5C3B-2394-86254695A281}"/>
              </a:ext>
            </a:extLst>
          </p:cNvPr>
          <p:cNvSpPr txBox="1"/>
          <p:nvPr/>
        </p:nvSpPr>
        <p:spPr>
          <a:xfrm>
            <a:off x="508000" y="365760"/>
            <a:ext cx="4094480" cy="1569660"/>
          </a:xfrm>
          <a:prstGeom prst="rect">
            <a:avLst/>
          </a:prstGeom>
          <a:noFill/>
        </p:spPr>
        <p:txBody>
          <a:bodyPr wrap="square" rtlCol="0">
            <a:spAutoFit/>
          </a:bodyPr>
          <a:lstStyle/>
          <a:p>
            <a:r>
              <a:rPr lang="en-CA" sz="3200" b="1" dirty="0">
                <a:latin typeface="ADLaM Display" panose="02010000000000000000" pitchFamily="2" charset="0"/>
                <a:ea typeface="ADLaM Display" panose="02010000000000000000" pitchFamily="2" charset="0"/>
                <a:cs typeface="ADLaM Display" panose="02010000000000000000" pitchFamily="2" charset="0"/>
              </a:rPr>
              <a:t>MODEL ARCHITECTURE &amp; OVERVIEW</a:t>
            </a:r>
          </a:p>
        </p:txBody>
      </p:sp>
      <p:sp>
        <p:nvSpPr>
          <p:cNvPr id="3" name="TextBox 2">
            <a:extLst>
              <a:ext uri="{FF2B5EF4-FFF2-40B4-BE49-F238E27FC236}">
                <a16:creationId xmlns:a16="http://schemas.microsoft.com/office/drawing/2014/main" id="{36169239-1979-6936-DC28-1E578F6C969F}"/>
              </a:ext>
            </a:extLst>
          </p:cNvPr>
          <p:cNvSpPr txBox="1"/>
          <p:nvPr/>
        </p:nvSpPr>
        <p:spPr>
          <a:xfrm>
            <a:off x="4297680" y="365760"/>
            <a:ext cx="7112000" cy="1631216"/>
          </a:xfrm>
          <a:prstGeom prst="rect">
            <a:avLst/>
          </a:prstGeom>
          <a:noFill/>
        </p:spPr>
        <p:txBody>
          <a:bodyPr wrap="square" rtlCol="0">
            <a:spAutoFit/>
          </a:bodyPr>
          <a:lstStyle/>
          <a:p>
            <a:pPr algn="r"/>
            <a:r>
              <a:rPr lang="en-CA" sz="10000" b="1" dirty="0">
                <a:latin typeface="ADLaM Display" panose="02010000000000000000" pitchFamily="2" charset="0"/>
                <a:ea typeface="ADLaM Display" panose="02010000000000000000" pitchFamily="2" charset="0"/>
                <a:cs typeface="ADLaM Display" panose="02010000000000000000" pitchFamily="2" charset="0"/>
              </a:rPr>
              <a:t>-  </a:t>
            </a:r>
            <a:r>
              <a:rPr lang="en-CA" sz="10000" b="1" dirty="0">
                <a:latin typeface="Algerian" panose="04020705040A02060702" pitchFamily="82" charset="0"/>
              </a:rPr>
              <a:t>     </a:t>
            </a:r>
            <a:r>
              <a:rPr lang="en-CA" sz="10000" b="1" dirty="0">
                <a:solidFill>
                  <a:srgbClr val="00B0F0"/>
                </a:solidFill>
                <a:latin typeface="Algerian" panose="04020705040A02060702" pitchFamily="82" charset="0"/>
              </a:rPr>
              <a:t>VGG16</a:t>
            </a:r>
          </a:p>
        </p:txBody>
      </p:sp>
      <p:sp>
        <p:nvSpPr>
          <p:cNvPr id="4" name="TextBox 3">
            <a:extLst>
              <a:ext uri="{FF2B5EF4-FFF2-40B4-BE49-F238E27FC236}">
                <a16:creationId xmlns:a16="http://schemas.microsoft.com/office/drawing/2014/main" id="{9E1E2FD6-8164-CEF9-B5F8-A8C3710CDC85}"/>
              </a:ext>
            </a:extLst>
          </p:cNvPr>
          <p:cNvSpPr txBox="1"/>
          <p:nvPr/>
        </p:nvSpPr>
        <p:spPr>
          <a:xfrm>
            <a:off x="548640" y="2707640"/>
            <a:ext cx="6532880"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t>VGG16(Visual Geometry Group 16) is powerful convolutional neural network (CNN) designed for image classification tasks, classifying them into various categories.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VGG16 consists of 16 layers in total:</a:t>
            </a:r>
          </a:p>
          <a:p>
            <a:endParaRPr lang="en-US" sz="1600" dirty="0"/>
          </a:p>
          <a:p>
            <a:pPr marL="742950" lvl="1" indent="-285750">
              <a:buFont typeface="Wingdings" panose="05000000000000000000" pitchFamily="2" charset="2"/>
              <a:buChar char="ü"/>
            </a:pPr>
            <a:r>
              <a:rPr lang="en-US" sz="1600" dirty="0"/>
              <a:t> </a:t>
            </a:r>
            <a:r>
              <a:rPr lang="en-US" sz="1600" i="1" dirty="0"/>
              <a:t>Convolutional Layers </a:t>
            </a:r>
            <a:r>
              <a:rPr lang="en-US" sz="1600" dirty="0"/>
              <a:t>- 13, 3x3 filter size with a stride of 1 pixel.</a:t>
            </a:r>
          </a:p>
          <a:p>
            <a:pPr marL="742950" lvl="1" indent="-285750">
              <a:buFont typeface="Wingdings" panose="05000000000000000000" pitchFamily="2" charset="2"/>
              <a:buChar char="ü"/>
            </a:pPr>
            <a:r>
              <a:rPr lang="en-US" sz="1600" i="1" dirty="0"/>
              <a:t>Pooling Layers </a:t>
            </a:r>
            <a:r>
              <a:rPr lang="en-US" sz="1600" dirty="0"/>
              <a:t>- 5 max-pooling, 2x2 max-pooling layers with a stride of 2.</a:t>
            </a:r>
          </a:p>
          <a:p>
            <a:pPr marL="742950" lvl="1" indent="-285750">
              <a:buFont typeface="Wingdings" panose="05000000000000000000" pitchFamily="2" charset="2"/>
              <a:buChar char="ü"/>
            </a:pPr>
            <a:r>
              <a:rPr lang="en-US" sz="1600" i="1" dirty="0"/>
              <a:t>Fully Connected Layers</a:t>
            </a:r>
            <a:r>
              <a:rPr lang="en-US" sz="1600" dirty="0"/>
              <a:t> - 3 fully connected (dense) layers.</a:t>
            </a:r>
            <a:endParaRPr lang="en-CA" sz="1600" dirty="0"/>
          </a:p>
        </p:txBody>
      </p:sp>
      <p:pic>
        <p:nvPicPr>
          <p:cNvPr id="1026" name="Picture 2" descr="Keras Implementation of VGG16 Architecture from Scratch with Dogs Vs ...">
            <a:extLst>
              <a:ext uri="{FF2B5EF4-FFF2-40B4-BE49-F238E27FC236}">
                <a16:creationId xmlns:a16="http://schemas.microsoft.com/office/drawing/2014/main" id="{B0E09829-27E5-B30D-ED31-C3058B916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5039" y="2707640"/>
            <a:ext cx="4267201" cy="2263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1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B7AB3D-B5A7-E526-7268-C22B6E5BBED1}"/>
              </a:ext>
            </a:extLst>
          </p:cNvPr>
          <p:cNvSpPr txBox="1"/>
          <p:nvPr/>
        </p:nvSpPr>
        <p:spPr>
          <a:xfrm>
            <a:off x="294640" y="375920"/>
            <a:ext cx="5486400" cy="646331"/>
          </a:xfrm>
          <a:prstGeom prst="rect">
            <a:avLst/>
          </a:prstGeom>
          <a:noFill/>
        </p:spPr>
        <p:txBody>
          <a:bodyPr wrap="square" rtlCol="0">
            <a:spAutoFit/>
          </a:bodyPr>
          <a:lstStyle/>
          <a:p>
            <a:r>
              <a:rPr lang="en-CA"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EVALUATION METRICS</a:t>
            </a:r>
          </a:p>
        </p:txBody>
      </p:sp>
      <p:sp>
        <p:nvSpPr>
          <p:cNvPr id="3" name="TextBox 2">
            <a:extLst>
              <a:ext uri="{FF2B5EF4-FFF2-40B4-BE49-F238E27FC236}">
                <a16:creationId xmlns:a16="http://schemas.microsoft.com/office/drawing/2014/main" id="{C33FCB3B-9C07-79C1-161E-3779F8A55368}"/>
              </a:ext>
            </a:extLst>
          </p:cNvPr>
          <p:cNvSpPr txBox="1"/>
          <p:nvPr/>
        </p:nvSpPr>
        <p:spPr>
          <a:xfrm>
            <a:off x="2153920" y="1463377"/>
            <a:ext cx="3190240" cy="369332"/>
          </a:xfrm>
          <a:prstGeom prst="rect">
            <a:avLst/>
          </a:prstGeom>
          <a:noFill/>
        </p:spPr>
        <p:txBody>
          <a:bodyPr wrap="square" rtlCol="0">
            <a:spAutoFit/>
          </a:bodyPr>
          <a:lstStyle/>
          <a:p>
            <a:r>
              <a:rPr lang="en-CA" dirty="0">
                <a:latin typeface="ADLaM Display" panose="02010000000000000000" pitchFamily="2" charset="0"/>
                <a:ea typeface="ADLaM Display" panose="02010000000000000000" pitchFamily="2" charset="0"/>
                <a:cs typeface="ADLaM Display" panose="02010000000000000000" pitchFamily="2" charset="0"/>
              </a:rPr>
              <a:t>Confusion Matrix Analysis</a:t>
            </a:r>
          </a:p>
        </p:txBody>
      </p:sp>
      <p:sp>
        <p:nvSpPr>
          <p:cNvPr id="4" name="TextBox 3">
            <a:extLst>
              <a:ext uri="{FF2B5EF4-FFF2-40B4-BE49-F238E27FC236}">
                <a16:creationId xmlns:a16="http://schemas.microsoft.com/office/drawing/2014/main" id="{389F2E12-5C73-2191-6D92-1A6A4946C7D8}"/>
              </a:ext>
            </a:extLst>
          </p:cNvPr>
          <p:cNvSpPr txBox="1"/>
          <p:nvPr/>
        </p:nvSpPr>
        <p:spPr>
          <a:xfrm>
            <a:off x="4958079" y="1956634"/>
            <a:ext cx="1341120" cy="369332"/>
          </a:xfrm>
          <a:prstGeom prst="rect">
            <a:avLst/>
          </a:prstGeom>
          <a:noFill/>
        </p:spPr>
        <p:txBody>
          <a:bodyPr wrap="square" rtlCol="0">
            <a:spAutoFit/>
          </a:bodyPr>
          <a:lstStyle/>
          <a:p>
            <a:r>
              <a:rPr lang="en-CA" dirty="0">
                <a:latin typeface="ADLaM Display" panose="02010000000000000000" pitchFamily="2" charset="0"/>
                <a:ea typeface="ADLaM Display" panose="02010000000000000000" pitchFamily="2" charset="0"/>
                <a:cs typeface="ADLaM Display" panose="02010000000000000000" pitchFamily="2" charset="0"/>
              </a:rPr>
              <a:t>Training</a:t>
            </a:r>
          </a:p>
        </p:txBody>
      </p:sp>
      <p:sp>
        <p:nvSpPr>
          <p:cNvPr id="5" name="TextBox 4">
            <a:extLst>
              <a:ext uri="{FF2B5EF4-FFF2-40B4-BE49-F238E27FC236}">
                <a16:creationId xmlns:a16="http://schemas.microsoft.com/office/drawing/2014/main" id="{6B71BFA1-F827-AF09-AB8B-CC64BA3BBB0A}"/>
              </a:ext>
            </a:extLst>
          </p:cNvPr>
          <p:cNvSpPr txBox="1"/>
          <p:nvPr/>
        </p:nvSpPr>
        <p:spPr>
          <a:xfrm>
            <a:off x="1167267" y="1958639"/>
            <a:ext cx="1432560" cy="369332"/>
          </a:xfrm>
          <a:prstGeom prst="rect">
            <a:avLst/>
          </a:prstGeom>
          <a:noFill/>
        </p:spPr>
        <p:txBody>
          <a:bodyPr wrap="square" rtlCol="0">
            <a:spAutoFit/>
          </a:bodyPr>
          <a:lstStyle/>
          <a:p>
            <a:r>
              <a:rPr lang="en-CA" dirty="0">
                <a:latin typeface="ADLaM Display" panose="02010000000000000000" pitchFamily="2" charset="0"/>
                <a:ea typeface="ADLaM Display" panose="02010000000000000000" pitchFamily="2" charset="0"/>
                <a:cs typeface="ADLaM Display" panose="02010000000000000000" pitchFamily="2" charset="0"/>
              </a:rPr>
              <a:t>Validation </a:t>
            </a:r>
          </a:p>
        </p:txBody>
      </p:sp>
      <p:pic>
        <p:nvPicPr>
          <p:cNvPr id="7" name="Picture 6">
            <a:extLst>
              <a:ext uri="{FF2B5EF4-FFF2-40B4-BE49-F238E27FC236}">
                <a16:creationId xmlns:a16="http://schemas.microsoft.com/office/drawing/2014/main" id="{703D0145-BC85-AC10-67F0-B5E5EC434F7D}"/>
              </a:ext>
            </a:extLst>
          </p:cNvPr>
          <p:cNvPicPr>
            <a:picLocks noChangeAspect="1"/>
          </p:cNvPicPr>
          <p:nvPr/>
        </p:nvPicPr>
        <p:blipFill>
          <a:blip r:embed="rId2"/>
          <a:stretch>
            <a:fillRect/>
          </a:stretch>
        </p:blipFill>
        <p:spPr>
          <a:xfrm>
            <a:off x="294640" y="2769097"/>
            <a:ext cx="3177815" cy="2880610"/>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2E86D8B0-C2FC-1FA4-BCBE-A575D6CE05B9}"/>
              </a:ext>
            </a:extLst>
          </p:cNvPr>
          <p:cNvPicPr>
            <a:picLocks noChangeAspect="1"/>
          </p:cNvPicPr>
          <p:nvPr/>
        </p:nvPicPr>
        <p:blipFill>
          <a:blip r:embed="rId3"/>
          <a:stretch>
            <a:fillRect/>
          </a:stretch>
        </p:blipFill>
        <p:spPr>
          <a:xfrm>
            <a:off x="4226438" y="2769097"/>
            <a:ext cx="2804403" cy="2880610"/>
          </a:xfrm>
          <a:prstGeom prst="rect">
            <a:avLst/>
          </a:prstGeom>
          <a:ln>
            <a:noFill/>
          </a:ln>
          <a:effectLst>
            <a:outerShdw blurRad="190500" algn="tl" rotWithShape="0">
              <a:srgbClr val="000000">
                <a:alpha val="70000"/>
              </a:srgbClr>
            </a:outerShdw>
          </a:effectLst>
        </p:spPr>
      </p:pic>
      <p:cxnSp>
        <p:nvCxnSpPr>
          <p:cNvPr id="11" name="Straight Connector 10">
            <a:extLst>
              <a:ext uri="{FF2B5EF4-FFF2-40B4-BE49-F238E27FC236}">
                <a16:creationId xmlns:a16="http://schemas.microsoft.com/office/drawing/2014/main" id="{E87623CF-F0AE-AB55-C165-38E9835D2664}"/>
              </a:ext>
            </a:extLst>
          </p:cNvPr>
          <p:cNvCxnSpPr/>
          <p:nvPr/>
        </p:nvCxnSpPr>
        <p:spPr>
          <a:xfrm>
            <a:off x="7782560" y="2092286"/>
            <a:ext cx="0" cy="3636000"/>
          </a:xfrm>
          <a:prstGeom prst="line">
            <a:avLst/>
          </a:prstGeom>
          <a:ln w="38100"/>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584E132A-FEB0-FD7F-370A-2895E6C44AC3}"/>
              </a:ext>
            </a:extLst>
          </p:cNvPr>
          <p:cNvSpPr txBox="1"/>
          <p:nvPr/>
        </p:nvSpPr>
        <p:spPr>
          <a:xfrm>
            <a:off x="8890000" y="1463377"/>
            <a:ext cx="1971040" cy="369332"/>
          </a:xfrm>
          <a:prstGeom prst="rect">
            <a:avLst/>
          </a:prstGeom>
          <a:noFill/>
        </p:spPr>
        <p:txBody>
          <a:bodyPr wrap="square" rtlCol="0">
            <a:spAutoFit/>
          </a:bodyPr>
          <a:lstStyle/>
          <a:p>
            <a:r>
              <a:rPr lang="en-CA" dirty="0">
                <a:latin typeface="ADLaM Display" panose="02010000000000000000" pitchFamily="2" charset="0"/>
                <a:ea typeface="ADLaM Display" panose="02010000000000000000" pitchFamily="2" charset="0"/>
                <a:cs typeface="ADLaM Display" panose="02010000000000000000" pitchFamily="2" charset="0"/>
              </a:rPr>
              <a:t>Model Accuracy</a:t>
            </a:r>
          </a:p>
        </p:txBody>
      </p:sp>
      <p:pic>
        <p:nvPicPr>
          <p:cNvPr id="14" name="Picture 13">
            <a:extLst>
              <a:ext uri="{FF2B5EF4-FFF2-40B4-BE49-F238E27FC236}">
                <a16:creationId xmlns:a16="http://schemas.microsoft.com/office/drawing/2014/main" id="{E2034518-16B5-9AED-A668-5B65D5BB5C1C}"/>
              </a:ext>
            </a:extLst>
          </p:cNvPr>
          <p:cNvPicPr>
            <a:picLocks noChangeAspect="1"/>
          </p:cNvPicPr>
          <p:nvPr/>
        </p:nvPicPr>
        <p:blipFill>
          <a:blip r:embed="rId4"/>
          <a:stretch>
            <a:fillRect/>
          </a:stretch>
        </p:blipFill>
        <p:spPr>
          <a:xfrm>
            <a:off x="8007803" y="2766050"/>
            <a:ext cx="3735434" cy="2886703"/>
          </a:xfrm>
          <a:prstGeom prst="rect">
            <a:avLst/>
          </a:prstGeom>
        </p:spPr>
      </p:pic>
    </p:spTree>
    <p:extLst>
      <p:ext uri="{BB962C8B-B14F-4D97-AF65-F5344CB8AC3E}">
        <p14:creationId xmlns:p14="http://schemas.microsoft.com/office/powerpoint/2010/main" val="4113809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7BCC63-BE0B-5CB1-F8F4-9E6D5574A0F4}"/>
              </a:ext>
            </a:extLst>
          </p:cNvPr>
          <p:cNvSpPr txBox="1"/>
          <p:nvPr/>
        </p:nvSpPr>
        <p:spPr>
          <a:xfrm>
            <a:off x="284480" y="345440"/>
            <a:ext cx="11399520" cy="707886"/>
          </a:xfrm>
          <a:prstGeom prst="rect">
            <a:avLst/>
          </a:prstGeom>
          <a:noFill/>
        </p:spPr>
        <p:txBody>
          <a:bodyPr wrap="square" rtlCol="0">
            <a:spAutoFit/>
          </a:bodyPr>
          <a:lstStyle/>
          <a:p>
            <a:r>
              <a:rPr lang="en-CA"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MODEL INTERPRETABILITY </a:t>
            </a:r>
          </a:p>
          <a:p>
            <a:r>
              <a:rPr lang="en-CA"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LIME (</a:t>
            </a:r>
            <a:r>
              <a:rPr lang="en-CA" sz="2000" b="1" i="0" dirty="0">
                <a:solidFill>
                  <a:srgbClr val="00B0F0"/>
                </a:solidFill>
                <a:effectLst/>
                <a:highlight>
                  <a:srgbClr val="FFFFFF"/>
                </a:highlight>
                <a:latin typeface="ADLaM Display" panose="02010000000000000000" pitchFamily="2" charset="0"/>
                <a:ea typeface="ADLaM Display" panose="02010000000000000000" pitchFamily="2" charset="0"/>
                <a:cs typeface="ADLaM Display" panose="02010000000000000000" pitchFamily="2" charset="0"/>
              </a:rPr>
              <a:t>LOCAL INTERPRETABLE MODEL-AGNOSTIC EXPLANATIONS)</a:t>
            </a:r>
            <a:endParaRPr lang="en-CA"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TextBox 2">
            <a:extLst>
              <a:ext uri="{FF2B5EF4-FFF2-40B4-BE49-F238E27FC236}">
                <a16:creationId xmlns:a16="http://schemas.microsoft.com/office/drawing/2014/main" id="{831E5384-5CDA-48FB-0C3A-C955300382A5}"/>
              </a:ext>
            </a:extLst>
          </p:cNvPr>
          <p:cNvSpPr txBox="1"/>
          <p:nvPr/>
        </p:nvSpPr>
        <p:spPr>
          <a:xfrm>
            <a:off x="284480" y="1209651"/>
            <a:ext cx="1076960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Model interpretability in medical applications ensures trust, validation, and error detection, enabling transparent and informed decisions.</a:t>
            </a:r>
          </a:p>
          <a:p>
            <a:endParaRPr lang="en-US" sz="1600" dirty="0"/>
          </a:p>
          <a:p>
            <a:pPr marL="285750" indent="-285750">
              <a:buFont typeface="Arial" panose="020B0604020202020204" pitchFamily="34" charset="0"/>
              <a:buChar char="•"/>
            </a:pPr>
            <a:r>
              <a:rPr lang="en-US" sz="1600" dirty="0"/>
              <a:t>Following are the tuning visualization using LIME:</a:t>
            </a:r>
          </a:p>
        </p:txBody>
      </p:sp>
      <p:pic>
        <p:nvPicPr>
          <p:cNvPr id="6" name="Picture 5" descr="A graph of a number of objects&#10;&#10;Description automatically generated with medium confidence">
            <a:extLst>
              <a:ext uri="{FF2B5EF4-FFF2-40B4-BE49-F238E27FC236}">
                <a16:creationId xmlns:a16="http://schemas.microsoft.com/office/drawing/2014/main" id="{4180D88B-7DE0-FF93-8C4C-8825F8EDD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776" y="2436018"/>
            <a:ext cx="2024063" cy="1985963"/>
          </a:xfrm>
          <a:prstGeom prst="rect">
            <a:avLst/>
          </a:prstGeom>
        </p:spPr>
      </p:pic>
      <p:pic>
        <p:nvPicPr>
          <p:cNvPr id="8" name="Picture 7" descr="A yellow lines on a white background&#10;&#10;Description automatically generated">
            <a:extLst>
              <a:ext uri="{FF2B5EF4-FFF2-40B4-BE49-F238E27FC236}">
                <a16:creationId xmlns:a16="http://schemas.microsoft.com/office/drawing/2014/main" id="{491E703A-273B-1DEB-52FA-9071F10321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4816" y="2509527"/>
            <a:ext cx="2024063" cy="1985963"/>
          </a:xfrm>
          <a:prstGeom prst="rect">
            <a:avLst/>
          </a:prstGeom>
        </p:spPr>
      </p:pic>
      <p:pic>
        <p:nvPicPr>
          <p:cNvPr id="10" name="Picture 9" descr="X-ray of a person's chest&#10;&#10;Description automatically generated">
            <a:extLst>
              <a:ext uri="{FF2B5EF4-FFF2-40B4-BE49-F238E27FC236}">
                <a16:creationId xmlns:a16="http://schemas.microsoft.com/office/drawing/2014/main" id="{864DC035-2225-31F8-9A31-D6BDF577C3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3856" y="2635916"/>
            <a:ext cx="2999740" cy="1733183"/>
          </a:xfrm>
          <a:prstGeom prst="rect">
            <a:avLst/>
          </a:prstGeom>
        </p:spPr>
      </p:pic>
      <p:pic>
        <p:nvPicPr>
          <p:cNvPr id="12" name="Picture 11" descr="A yellow and grey image&#10;&#10;Description automatically generated with medium confidence">
            <a:extLst>
              <a:ext uri="{FF2B5EF4-FFF2-40B4-BE49-F238E27FC236}">
                <a16:creationId xmlns:a16="http://schemas.microsoft.com/office/drawing/2014/main" id="{B415BCF8-82BD-9611-14DD-23847F4F1D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776" y="4748035"/>
            <a:ext cx="2024063" cy="1985963"/>
          </a:xfrm>
          <a:prstGeom prst="rect">
            <a:avLst/>
          </a:prstGeom>
        </p:spPr>
      </p:pic>
      <p:pic>
        <p:nvPicPr>
          <p:cNvPr id="14" name="Picture 13" descr="A yellow line graph with numbers&#10;&#10;Description automatically generated with medium confidence">
            <a:extLst>
              <a:ext uri="{FF2B5EF4-FFF2-40B4-BE49-F238E27FC236}">
                <a16:creationId xmlns:a16="http://schemas.microsoft.com/office/drawing/2014/main" id="{69CFF32A-EFF2-4748-2E9D-DEBBC67FEA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84816" y="4748034"/>
            <a:ext cx="2024063" cy="1985963"/>
          </a:xfrm>
          <a:prstGeom prst="rect">
            <a:avLst/>
          </a:prstGeom>
        </p:spPr>
      </p:pic>
      <p:pic>
        <p:nvPicPr>
          <p:cNvPr id="16" name="Picture 15" descr="A x-ray of a person's chest&#10;&#10;Description automatically generated">
            <a:extLst>
              <a:ext uri="{FF2B5EF4-FFF2-40B4-BE49-F238E27FC236}">
                <a16:creationId xmlns:a16="http://schemas.microsoft.com/office/drawing/2014/main" id="{5C74FEA0-9D71-7991-CFDA-84EC144073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63856" y="4872512"/>
            <a:ext cx="2999740" cy="1737005"/>
          </a:xfrm>
          <a:prstGeom prst="rect">
            <a:avLst/>
          </a:prstGeom>
        </p:spPr>
      </p:pic>
      <p:sp>
        <p:nvSpPr>
          <p:cNvPr id="17" name="TextBox 16">
            <a:extLst>
              <a:ext uri="{FF2B5EF4-FFF2-40B4-BE49-F238E27FC236}">
                <a16:creationId xmlns:a16="http://schemas.microsoft.com/office/drawing/2014/main" id="{D42EED1D-FC66-B72D-1B23-AC27CCA56667}"/>
              </a:ext>
            </a:extLst>
          </p:cNvPr>
          <p:cNvSpPr txBox="1"/>
          <p:nvPr/>
        </p:nvSpPr>
        <p:spPr>
          <a:xfrm>
            <a:off x="9207184" y="2896205"/>
            <a:ext cx="1869440" cy="769441"/>
          </a:xfrm>
          <a:prstGeom prst="rect">
            <a:avLst/>
          </a:prstGeom>
          <a:noFill/>
        </p:spPr>
        <p:txBody>
          <a:bodyPr wrap="square" rtlCol="0">
            <a:spAutoFit/>
          </a:bodyPr>
          <a:lstStyle/>
          <a:p>
            <a:r>
              <a:rPr lang="en-CA" sz="4400" b="1" dirty="0">
                <a:solidFill>
                  <a:schemeClr val="bg1">
                    <a:lumMod val="50000"/>
                  </a:schemeClr>
                </a:solidFill>
              </a:rPr>
              <a:t>VIRAL</a:t>
            </a:r>
          </a:p>
        </p:txBody>
      </p:sp>
      <p:sp>
        <p:nvSpPr>
          <p:cNvPr id="18" name="TextBox 17">
            <a:extLst>
              <a:ext uri="{FF2B5EF4-FFF2-40B4-BE49-F238E27FC236}">
                <a16:creationId xmlns:a16="http://schemas.microsoft.com/office/drawing/2014/main" id="{9EE09EE8-F19A-28AC-4B8E-6C4B913CDBBB}"/>
              </a:ext>
            </a:extLst>
          </p:cNvPr>
          <p:cNvSpPr txBox="1"/>
          <p:nvPr/>
        </p:nvSpPr>
        <p:spPr>
          <a:xfrm>
            <a:off x="9207184" y="5508525"/>
            <a:ext cx="2794000" cy="707886"/>
          </a:xfrm>
          <a:prstGeom prst="rect">
            <a:avLst/>
          </a:prstGeom>
          <a:noFill/>
        </p:spPr>
        <p:txBody>
          <a:bodyPr wrap="square" rtlCol="0">
            <a:spAutoFit/>
          </a:bodyPr>
          <a:lstStyle/>
          <a:p>
            <a:r>
              <a:rPr lang="en-CA" sz="4000" b="1" dirty="0">
                <a:solidFill>
                  <a:schemeClr val="bg1">
                    <a:lumMod val="50000"/>
                  </a:schemeClr>
                </a:solidFill>
              </a:rPr>
              <a:t>BACTERIAL</a:t>
            </a:r>
          </a:p>
        </p:txBody>
      </p:sp>
      <p:sp>
        <p:nvSpPr>
          <p:cNvPr id="19" name="AutoShape 4">
            <a:extLst>
              <a:ext uri="{FF2B5EF4-FFF2-40B4-BE49-F238E27FC236}">
                <a16:creationId xmlns:a16="http://schemas.microsoft.com/office/drawing/2014/main" id="{319D81AF-E982-88E9-0022-B15BE29128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4153215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632A14-23BC-57EB-D691-45657450BCC3}"/>
              </a:ext>
            </a:extLst>
          </p:cNvPr>
          <p:cNvSpPr txBox="1"/>
          <p:nvPr/>
        </p:nvSpPr>
        <p:spPr>
          <a:xfrm>
            <a:off x="7223760" y="2240706"/>
            <a:ext cx="4724400" cy="2000548"/>
          </a:xfrm>
          <a:prstGeom prst="rect">
            <a:avLst/>
          </a:prstGeom>
          <a:noFill/>
        </p:spPr>
        <p:txBody>
          <a:bodyPr wrap="square" rtlCol="0">
            <a:spAutoFit/>
          </a:bodyPr>
          <a:lstStyle/>
          <a:p>
            <a:r>
              <a:rPr lang="en-CA" sz="6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DASH</a:t>
            </a:r>
            <a:r>
              <a:rPr lang="en-CA"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 </a:t>
            </a:r>
            <a:r>
              <a:rPr lang="en-CA" sz="32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 Python Framework for Web Application</a:t>
            </a:r>
          </a:p>
        </p:txBody>
      </p:sp>
      <p:sp>
        <p:nvSpPr>
          <p:cNvPr id="3" name="TextBox 2">
            <a:extLst>
              <a:ext uri="{FF2B5EF4-FFF2-40B4-BE49-F238E27FC236}">
                <a16:creationId xmlns:a16="http://schemas.microsoft.com/office/drawing/2014/main" id="{A5F8C2D6-E80A-1060-96C5-8C11EF6C6537}"/>
              </a:ext>
            </a:extLst>
          </p:cNvPr>
          <p:cNvSpPr txBox="1"/>
          <p:nvPr/>
        </p:nvSpPr>
        <p:spPr>
          <a:xfrm>
            <a:off x="619760" y="1859339"/>
            <a:ext cx="6482080" cy="4278094"/>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Utilizes the Dash framework to create web applications, enabling easy integration of data analysis and machine learning models.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Imports a pre-trained TensorFlow model (VGG16_model.h5) for pneumonia detection, likely trained on X-ray images, enabling real-time predictions.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The dashboard provides a user-friendly interface for uploading X-ray images, enabling users to drag, drop, or select files easily.</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The application processes uploaded images in real-time, predicts using the model, and displays results alongside resized images for immediate user feedback.</a:t>
            </a:r>
          </a:p>
          <a:p>
            <a:pPr algn="just"/>
            <a:endParaRPr lang="en-US" sz="1600" dirty="0"/>
          </a:p>
          <a:p>
            <a:pPr marL="285750" indent="-285750" algn="just">
              <a:buFont typeface="Arial" panose="020B0604020202020204" pitchFamily="34" charset="0"/>
              <a:buChar char="•"/>
            </a:pPr>
            <a:r>
              <a:rPr lang="en-US" sz="1600" dirty="0"/>
              <a:t>Incorporates a utility function (resize_base64_image) to preprocess and resize uploaded images, ensuring compatibility with the model's input.</a:t>
            </a:r>
            <a:endParaRPr lang="en-CA" sz="1600" dirty="0"/>
          </a:p>
        </p:txBody>
      </p:sp>
      <p:pic>
        <p:nvPicPr>
          <p:cNvPr id="3074" name="Picture 2" descr="GitHub - ucg8j/awesome-dash: A curated ...">
            <a:extLst>
              <a:ext uri="{FF2B5EF4-FFF2-40B4-BE49-F238E27FC236}">
                <a16:creationId xmlns:a16="http://schemas.microsoft.com/office/drawing/2014/main" id="{AEAF0372-8909-3952-BFA9-826CC83F0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48" y="-1"/>
            <a:ext cx="7270431" cy="165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807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DD88AA-CDB9-D285-F3A6-914AFFF79716}"/>
              </a:ext>
            </a:extLst>
          </p:cNvPr>
          <p:cNvSpPr txBox="1"/>
          <p:nvPr/>
        </p:nvSpPr>
        <p:spPr>
          <a:xfrm>
            <a:off x="487680" y="548640"/>
            <a:ext cx="3495040" cy="584775"/>
          </a:xfrm>
          <a:prstGeom prst="rect">
            <a:avLst/>
          </a:prstGeom>
          <a:noFill/>
        </p:spPr>
        <p:txBody>
          <a:bodyPr wrap="square" rtlCol="0">
            <a:spAutoFit/>
          </a:bodyPr>
          <a:lstStyle/>
          <a:p>
            <a:r>
              <a:rPr lang="en-CA" sz="1600" b="1" dirty="0">
                <a:solidFill>
                  <a:srgbClr val="00B0F0"/>
                </a:solidFill>
              </a:rPr>
              <a:t>WEB APPLICATION LINK: https://yokeshwar-p-d.hf.space/</a:t>
            </a:r>
          </a:p>
        </p:txBody>
      </p:sp>
      <p:pic>
        <p:nvPicPr>
          <p:cNvPr id="3" name="video1429802954">
            <a:hlinkClick r:id="" action="ppaction://media"/>
            <a:extLst>
              <a:ext uri="{FF2B5EF4-FFF2-40B4-BE49-F238E27FC236}">
                <a16:creationId xmlns:a16="http://schemas.microsoft.com/office/drawing/2014/main" id="{7DDA3F10-B14B-FB6E-0332-D286CCFA279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14400" y="1286510"/>
            <a:ext cx="9326880" cy="5246370"/>
          </a:xfrm>
          <a:prstGeom prst="rect">
            <a:avLst/>
          </a:prstGeom>
        </p:spPr>
      </p:pic>
    </p:spTree>
    <p:extLst>
      <p:ext uri="{BB962C8B-B14F-4D97-AF65-F5344CB8AC3E}">
        <p14:creationId xmlns:p14="http://schemas.microsoft.com/office/powerpoint/2010/main" val="291872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16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E4B2CBB-6467-7B0E-9CFA-A1BAFCF4B147}"/>
              </a:ext>
            </a:extLst>
          </p:cNvPr>
          <p:cNvSpPr txBox="1"/>
          <p:nvPr/>
        </p:nvSpPr>
        <p:spPr>
          <a:xfrm>
            <a:off x="640080" y="2872899"/>
            <a:ext cx="4243589" cy="33206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i="1"/>
              <a:t>SUBMITTED BY:</a:t>
            </a:r>
          </a:p>
          <a:p>
            <a:pPr indent="-228600">
              <a:lnSpc>
                <a:spcPct val="90000"/>
              </a:lnSpc>
              <a:spcAft>
                <a:spcPts val="600"/>
              </a:spcAft>
              <a:buFont typeface="Arial" panose="020B0604020202020204" pitchFamily="34" charset="0"/>
              <a:buChar char="•"/>
            </a:pPr>
            <a:endParaRPr lang="en-US" sz="2000" b="1" i="1"/>
          </a:p>
          <a:p>
            <a:pPr indent="-228600">
              <a:lnSpc>
                <a:spcPct val="90000"/>
              </a:lnSpc>
              <a:spcAft>
                <a:spcPts val="600"/>
              </a:spcAft>
              <a:buFont typeface="Arial" panose="020B0604020202020204" pitchFamily="34" charset="0"/>
              <a:buChar char="•"/>
            </a:pPr>
            <a:r>
              <a:rPr lang="en-US" sz="2000" i="1"/>
              <a:t>YOKESHWAR BOOPATHY</a:t>
            </a:r>
          </a:p>
          <a:p>
            <a:pPr indent="-228600">
              <a:lnSpc>
                <a:spcPct val="90000"/>
              </a:lnSpc>
              <a:spcAft>
                <a:spcPts val="600"/>
              </a:spcAft>
              <a:buFont typeface="Arial" panose="020B0604020202020204" pitchFamily="34" charset="0"/>
              <a:buChar char="•"/>
            </a:pPr>
            <a:r>
              <a:rPr lang="en-US" sz="2000" i="1"/>
              <a:t>SNEGA MURUGAN</a:t>
            </a:r>
          </a:p>
          <a:p>
            <a:pPr indent="-228600">
              <a:lnSpc>
                <a:spcPct val="90000"/>
              </a:lnSpc>
              <a:spcAft>
                <a:spcPts val="600"/>
              </a:spcAft>
              <a:buFont typeface="Arial" panose="020B0604020202020204" pitchFamily="34" charset="0"/>
              <a:buChar char="•"/>
            </a:pPr>
            <a:r>
              <a:rPr lang="en-US" sz="2000" i="1"/>
              <a:t>ANAND VINOY</a:t>
            </a:r>
          </a:p>
          <a:p>
            <a:pPr indent="-228600">
              <a:lnSpc>
                <a:spcPct val="90000"/>
              </a:lnSpc>
              <a:spcAft>
                <a:spcPts val="600"/>
              </a:spcAft>
              <a:buFont typeface="Arial" panose="020B0604020202020204" pitchFamily="34" charset="0"/>
              <a:buChar char="•"/>
            </a:pPr>
            <a:r>
              <a:rPr lang="en-US" sz="2000" i="1"/>
              <a:t>ARAVINDSAMY</a:t>
            </a:r>
          </a:p>
          <a:p>
            <a:pPr indent="-228600">
              <a:lnSpc>
                <a:spcPct val="90000"/>
              </a:lnSpc>
              <a:spcAft>
                <a:spcPts val="600"/>
              </a:spcAft>
              <a:buFont typeface="Arial" panose="020B0604020202020204" pitchFamily="34" charset="0"/>
              <a:buChar char="•"/>
            </a:pPr>
            <a:r>
              <a:rPr lang="en-US" sz="2000" i="1"/>
              <a:t>MUTHU LAXMAN</a:t>
            </a:r>
          </a:p>
          <a:p>
            <a:pPr indent="-228600">
              <a:lnSpc>
                <a:spcPct val="90000"/>
              </a:lnSpc>
              <a:spcAft>
                <a:spcPts val="600"/>
              </a:spcAft>
              <a:buFont typeface="Arial" panose="020B0604020202020204" pitchFamily="34" charset="0"/>
              <a:buChar char="•"/>
            </a:pPr>
            <a:r>
              <a:rPr lang="en-US" sz="2000" i="1"/>
              <a:t>ABHEY GILL SINGH</a:t>
            </a:r>
          </a:p>
          <a:p>
            <a:pPr indent="-228600">
              <a:lnSpc>
                <a:spcPct val="90000"/>
              </a:lnSpc>
              <a:spcAft>
                <a:spcPts val="600"/>
              </a:spcAft>
              <a:buFont typeface="Arial" panose="020B0604020202020204" pitchFamily="34" charset="0"/>
              <a:buChar char="•"/>
            </a:pPr>
            <a:r>
              <a:rPr lang="en-US" sz="2000" i="1"/>
              <a:t>SANGAVI SAMBATHKUMAR</a:t>
            </a:r>
          </a:p>
        </p:txBody>
      </p:sp>
      <p:pic>
        <p:nvPicPr>
          <p:cNvPr id="3" name="Picture 2" descr="A yellow post it note with blue text&#10;&#10;Description automatically generated">
            <a:extLst>
              <a:ext uri="{FF2B5EF4-FFF2-40B4-BE49-F238E27FC236}">
                <a16:creationId xmlns:a16="http://schemas.microsoft.com/office/drawing/2014/main" id="{59EBD17A-7866-B541-58B5-B28C02FF43E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792" r="2" b="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683100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848</TotalTime>
  <Words>485</Words>
  <Application>Microsoft Office PowerPoint</Application>
  <PresentationFormat>Widescreen</PresentationFormat>
  <Paragraphs>70</Paragraphs>
  <Slides>9</Slides>
  <Notes>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ADLaM Display</vt:lpstr>
      <vt:lpstr>Algerian</vt: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Sangavi Sambath Kumar</dc:creator>
  <cp:lastModifiedBy>Sangavi Sambath Kumar</cp:lastModifiedBy>
  <cp:revision>3</cp:revision>
  <dcterms:created xsi:type="dcterms:W3CDTF">2024-04-14T13:52:27Z</dcterms:created>
  <dcterms:modified xsi:type="dcterms:W3CDTF">2024-04-15T04:13:21Z</dcterms:modified>
</cp:coreProperties>
</file>